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bold.fntdata"/><Relationship Id="rId12" Type="http://schemas.openxmlformats.org/officeDocument/2006/relationships/font" Target="fonts/Garamo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boldItalic.fntdata"/><Relationship Id="rId14" Type="http://schemas.openxmlformats.org/officeDocument/2006/relationships/font" Target="fonts/Garamond-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4.png"/><Relationship Id="rId13" Type="http://schemas.openxmlformats.org/officeDocument/2006/relationships/image" Target="../media/image5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9" Type="http://schemas.openxmlformats.org/officeDocument/2006/relationships/image" Target="../media/image9.png"/><Relationship Id="rId15" Type="http://schemas.openxmlformats.org/officeDocument/2006/relationships/image" Target="../media/image12.png"/><Relationship Id="rId14" Type="http://schemas.openxmlformats.org/officeDocument/2006/relationships/image" Target="../media/image10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5" Type="http://schemas.openxmlformats.org/officeDocument/2006/relationships/image" Target="../media/image6.png"/><Relationship Id="rId19" Type="http://schemas.openxmlformats.org/officeDocument/2006/relationships/image" Target="../media/image18.png"/><Relationship Id="rId6" Type="http://schemas.openxmlformats.org/officeDocument/2006/relationships/image" Target="../media/image13.png"/><Relationship Id="rId18" Type="http://schemas.openxmlformats.org/officeDocument/2006/relationships/image" Target="../media/image8.png"/><Relationship Id="rId7" Type="http://schemas.openxmlformats.org/officeDocument/2006/relationships/image" Target="../media/image15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hyperlink" Target="https://arxiv.org/abs/2004.00584" TargetMode="External"/><Relationship Id="rId13" Type="http://schemas.openxmlformats.org/officeDocument/2006/relationships/image" Target="../media/image24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www.jstor.org/stable/2286061" TargetMode="External"/><Relationship Id="rId9" Type="http://schemas.openxmlformats.org/officeDocument/2006/relationships/hyperlink" Target="https://cag.gov.in" TargetMode="External"/><Relationship Id="rId5" Type="http://schemas.openxmlformats.org/officeDocument/2006/relationships/hyperlink" Target="https://arxiv.org/abs/2310.11244" TargetMode="External"/><Relationship Id="rId6" Type="http://schemas.openxmlformats.org/officeDocument/2006/relationships/hyperlink" Target="https://arxiv.org/abs/2603.11051" TargetMode="External"/><Relationship Id="rId7" Type="http://schemas.openxmlformats.org/officeDocument/2006/relationships/hyperlink" Target="https://github.com/moj-analytical-services/splink" TargetMode="External"/><Relationship Id="rId8" Type="http://schemas.openxmlformats.org/officeDocument/2006/relationships/hyperlink" Target="https://ddpdos.gov.in/about-u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571180" y="1118736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7769291" y="1983096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1245686" y="54443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31286" y="1543050"/>
            <a:ext cx="59247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</a:t>
            </a:r>
            <a:r>
              <a:rPr b="1" lang="en-US" sz="2400">
                <a:solidFill>
                  <a:schemeClr val="dk1"/>
                </a:solidFill>
              </a:rPr>
              <a:t>-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26099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AI-Driven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   Standardization and  Harmonization 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   of Material Codes Across CPSEs.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</a:t>
            </a:r>
            <a:r>
              <a:rPr b="1" lang="en-US" sz="2400">
                <a:solidFill>
                  <a:schemeClr val="dk1"/>
                </a:solidFill>
              </a:rPr>
              <a:t>Smart Automation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b="1" lang="en-US" sz="2400">
                <a:solidFill>
                  <a:schemeClr val="dk1"/>
                </a:solidFill>
              </a:rPr>
              <a:t>- Localhost3700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title="Your paragraph te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7925" y="1142995"/>
            <a:ext cx="6293926" cy="352610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Meridian: The Convergence Point for India's Material Codes. 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1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05" name="Google Shape;105;p14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Host: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87086" y="1128029"/>
            <a:ext cx="5803500" cy="5123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Idea/Solution: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Evidence-Based AI Matching Platform for Material Code Harmonization Across CPSEs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Features: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Typed Attribute Extraction: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Regex + LLM extraction with an evidence span per field; never guesses unknowns.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Four-Way Verdict: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Same / Possible Alternative / Different / Insufficient Evidence, never a forced binary.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Deterministic Conflict Gates: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Auditable rules outside the AI that can veto any match verdict.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Matching Cascade: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Deterministic identity to attribute rules to model, only on ambiguous pairs, so it scales.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Canonical ID Registry: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One national code per material, additive mapping to every source CPSE code.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Duplicate-Prevention Check: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Flags an existing match before a new material code is ever created.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6093138" y="4654125"/>
            <a:ext cx="5803500" cy="161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Innovativeness &amp; Uniqueness</a:t>
            </a:r>
            <a:endParaRPr sz="20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•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Evidence-First: every verdict traces to real evidence, not a score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•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Deterministic Override: conflict gates make refusals auditable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•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Non-Destructive: never edits a CPSE's code, only adds a note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u="sng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title="Untitled design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952814"/>
            <a:ext cx="11887201" cy="338113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7" name="Google Shape;11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8" name="Google Shape;118;p1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19" name="Google Shape;119;p15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Host: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/>
          <p:nvPr/>
        </p:nvSpPr>
        <p:spPr>
          <a:xfrm>
            <a:off x="186000" y="3661474"/>
            <a:ext cx="11820000" cy="2636700"/>
          </a:xfrm>
          <a:prstGeom prst="rect">
            <a:avLst/>
          </a:prstGeom>
          <a:solidFill>
            <a:srgbClr val="7F7F7F">
              <a:alpha val="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221262" y="3687446"/>
            <a:ext cx="3204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Flow Diagram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191012" y="1285125"/>
            <a:ext cx="3852900" cy="2225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1641212" y="1239036"/>
            <a:ext cx="952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299537" y="1619248"/>
            <a:ext cx="35910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19, vite, TypeScript, TanStack Query, Tailwind CSS 4, Recharts, @xyflow/react, Axios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626" y="2741758"/>
            <a:ext cx="822276" cy="5810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27" name="Google Shape;127;p15" title="image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4749" y="2681281"/>
            <a:ext cx="1168176" cy="6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35904" y="2719618"/>
            <a:ext cx="581097" cy="5810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29" name="Google Shape;129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07712" y="2825117"/>
            <a:ext cx="596896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95300" y="2714964"/>
            <a:ext cx="581100" cy="581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31" name="Google Shape;131;p15"/>
          <p:cNvSpPr/>
          <p:nvPr/>
        </p:nvSpPr>
        <p:spPr>
          <a:xfrm>
            <a:off x="4183655" y="1288625"/>
            <a:ext cx="3852900" cy="2225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5633855" y="1242536"/>
            <a:ext cx="952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4292180" y="1622748"/>
            <a:ext cx="35910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REST APIs,  FastAPI, SQLAlchemy, SQLite (dev), Postgres (prod), Pydantic (validation), pytest (testing)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8142388" y="1288625"/>
            <a:ext cx="3852900" cy="2225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9592588" y="1242536"/>
            <a:ext cx="952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/ML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8250913" y="1622748"/>
            <a:ext cx="35910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Hugging Face[Qwen 14B],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numpy, Pandas, yaml, scikit-learn,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Azure OpenAI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54700" y="2753900"/>
            <a:ext cx="503251" cy="50325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38" name="Google Shape;138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82318" y="2731118"/>
            <a:ext cx="581100" cy="5727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787470" y="2714964"/>
            <a:ext cx="581100" cy="581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40" name="Google Shape;140;p1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462363" y="2746048"/>
            <a:ext cx="503252" cy="51896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41" name="Google Shape;141;p1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092267" y="2711713"/>
            <a:ext cx="596900" cy="59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412875" y="2719050"/>
            <a:ext cx="596900" cy="596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43" name="Google Shape;143;p1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072668" y="2622525"/>
            <a:ext cx="766000" cy="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44" name="Google Shape;144;p15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9823489" y="2709227"/>
            <a:ext cx="596900" cy="596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45" name="Google Shape;145;p15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7025" y="2719050"/>
            <a:ext cx="596900" cy="59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1090550" y="2753900"/>
            <a:ext cx="503250" cy="50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6" title="Untitled design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9650" y="847675"/>
            <a:ext cx="3469399" cy="362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55" name="Google Shape;155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6" name="Google Shape;156;p1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7" name="Google Shape;157;p16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Host: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/>
          <p:nvPr/>
        </p:nvSpPr>
        <p:spPr>
          <a:xfrm>
            <a:off x="180950" y="1206345"/>
            <a:ext cx="7671300" cy="2636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Feasibility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: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Technical feasibility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- Core matching works offline, with zero model calls.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Scale feasibility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- A staged cascade avoids comparing every record to every other.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Sovereignty feasibility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- The model can run inside the CPSE's own network.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Reversibility feasibility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- Wrong matches are undone by deleting a note, nothing is lost.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Safety feasibility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- Conflict rules sit outside the AI and can overrule it.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Generalisation feasibility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- New material families can be added live, with no code change.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16349" y="3954598"/>
            <a:ext cx="7600500" cy="22074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Viability: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Adoption viability - Works alongside SAP, not instead of it, so no CPSE has to rip out what they already run.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Cost viability - Audited government losses (₹12,743 crore, SAIL, CAG 2025) prove the problem is real and expensive.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Market viability - Incumbents clean one company's data; none reconcile identity across organisations.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6" title="_- visual selection (2).png"/>
          <p:cNvPicPr preferRelativeResize="0"/>
          <p:nvPr/>
        </p:nvPicPr>
        <p:blipFill rotWithShape="1">
          <a:blip r:embed="rId5">
            <a:alphaModFix/>
          </a:blip>
          <a:srcRect b="11606" l="-960" r="960" t="0"/>
          <a:stretch/>
        </p:blipFill>
        <p:spPr>
          <a:xfrm>
            <a:off x="7705450" y="3996000"/>
            <a:ext cx="4477801" cy="22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/>
          <p:nvPr/>
        </p:nvSpPr>
        <p:spPr>
          <a:xfrm>
            <a:off x="8765400" y="4328450"/>
            <a:ext cx="385800" cy="24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7" title="Untitled design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387" y="832405"/>
            <a:ext cx="3634825" cy="343604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71" name="Google Shape;1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2" name="Google Shape;172;p1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73" name="Google Shape;173;p17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Host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/>
          <p:nvPr/>
        </p:nvSpPr>
        <p:spPr>
          <a:xfrm>
            <a:off x="288351" y="4036775"/>
            <a:ext cx="5815800" cy="2249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Procurement Teams: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Confident duplicate prevention and faster specification finalization, before a new code is ever created.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 Engineers / Reviewers: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Evidence-backed recommendations they can verify, not a black-box similarity score.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 Makers: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working foundation for collaborative procurement and strategic sourcing across CPSEs.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6338389" y="1552400"/>
            <a:ext cx="5563800" cy="2249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Strategic Benefits:</a:t>
            </a:r>
            <a:endParaRPr b="1" sz="17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Economic: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Targets losses like the Rs 12,743 crore CAG found at SAIL alone; demand aggregation cuts duplicate spend.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Governance: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Full append-only audit trail; every mapping traceable to its source evidence.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Safety: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Never edits or deletes a source code, only adds a note - so a wrong merge costs nothing to undo.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6352740" y="3954375"/>
            <a:ext cx="5563800" cy="2249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</a:t>
            </a:r>
            <a:r>
              <a:rPr b="1" lang="en-US" sz="1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Part, One Price </a:t>
            </a:r>
            <a:endParaRPr b="1" sz="17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Same bolt, different CPSEs, different prices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Meridian confirms these are the same part, price and quantity per cluster becomes one grouping query — the number a judge remembers.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scale: CAG found Rs 12,743 crore in procurement &amp; inventory losses at SAIL alone over 7 years.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0700" y="3975076"/>
            <a:ext cx="744051" cy="6600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45054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86" name="Google Shape;186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88" name="Google Shape;188;p18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Host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471375" y="1243671"/>
            <a:ext cx="11508000" cy="22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Fellegi &amp; Sunter, A Theory for Record Linkage (JASA, 1969):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https://www.jstor.org/stable/2286061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Peeters, Steiner &amp; Bizer, LLMs for Entity Matching (EDBT 2025):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https://arxiv.org/abs/2310.11244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OpenSanctions Pairs benchmark (on-prem vs hosted model F1):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https://arxiv.org/abs/2603.11051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Splink - UK Ministry of Justice entity resolution toolkit: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https://github.com/moj-analytical-services/splink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NCB-India / NATO Codification System: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https://ddpdos.gov.in/about-us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CAG Report No. 10 of 2025, SAIL inventory losses: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https://cag.gov.in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Ditto - deep entity matching (VLDB 2021):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 https://arxiv.org/abs/2004.00584</a:t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91" name="Google Shape;191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73453" y="3762368"/>
            <a:ext cx="3808740" cy="2380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309003" y="3762375"/>
            <a:ext cx="3808752" cy="2380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270153" y="3769775"/>
            <a:ext cx="3643176" cy="238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