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9.png"/><Relationship Id="rId10" Type="http://schemas.openxmlformats.org/officeDocument/2006/relationships/image" Target="../media/image4.png"/><Relationship Id="rId11" Type="http://schemas.openxmlformats.org/officeDocument/2006/relationships/image" Target="../media/image3.png"/><Relationship Id="rId12" Type="http://schemas.openxmlformats.org/officeDocument/2006/relationships/image" Target="../media/image7.png"/><Relationship Id="rId13" Type="http://schemas.openxmlformats.org/officeDocument/2006/relationships/image" Target="../media/image5.png"/><Relationship Id="rId14" Type="http://schemas.openxmlformats.org/officeDocument/2006/relationships/image" Target="../media/image10.png"/><Relationship Id="rId15" Type="http://schemas.openxmlformats.org/officeDocument/2006/relationships/image" Target="../media/image12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8.png"/><Relationship Id="rId19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.png"/><Relationship Id="rId5" Type="http://schemas.openxmlformats.org/officeDocument/2006/relationships/image" Target="../media/image25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www.jstor.org/stable/2286061" TargetMode="External"/><Relationship Id="rId5" Type="http://schemas.openxmlformats.org/officeDocument/2006/relationships/hyperlink" Target="https://arxiv.org/abs/2310.11244" TargetMode="External"/><Relationship Id="rId6" Type="http://schemas.openxmlformats.org/officeDocument/2006/relationships/hyperlink" Target="https://arxiv.org/abs/2603.11051" TargetMode="External"/><Relationship Id="rId7" Type="http://schemas.openxmlformats.org/officeDocument/2006/relationships/hyperlink" Target="https://github.com/moj-analytical-services/splink" TargetMode="External"/><Relationship Id="rId8" Type="http://schemas.openxmlformats.org/officeDocument/2006/relationships/hyperlink" Target="https://ddpdos.gov.in/about-us" TargetMode="External"/><Relationship Id="rId9" Type="http://schemas.openxmlformats.org/officeDocument/2006/relationships/hyperlink" Target="https://cag.gov.in" TargetMode="External"/><Relationship Id="rId10" Type="http://schemas.openxmlformats.org/officeDocument/2006/relationships/hyperlink" Target="https://arxiv.org/abs/2004.00584" TargetMode="External"/><Relationship Id="rId11" Type="http://schemas.openxmlformats.org/officeDocument/2006/relationships/image" Target="../media/image14.png"/><Relationship Id="rId12" Type="http://schemas.openxmlformats.org/officeDocument/2006/relationships/image" Target="../media/image26.png"/><Relationship Id="rId13" Type="http://schemas.openxmlformats.org/officeDocument/2006/relationships/image" Target="../media/image24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571180" y="1118736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7769291" y="198309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54443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1543050"/>
            <a:ext cx="59247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</a:t>
            </a:r>
            <a:r>
              <a:rPr b="1" lang="en-US" sz="2400">
                <a:solidFill>
                  <a:schemeClr val="dk1"/>
                </a:solidFill>
              </a:rPr>
              <a:t>- 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26099</a:t>
            </a:r>
            <a:endParaRPr/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AI-Driven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Standardization and  Harmonization 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of Material Codes Across CPSEs.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1" lang="en-US" sz="2400">
                <a:solidFill>
                  <a:schemeClr val="dk1"/>
                </a:solidFill>
              </a:rPr>
              <a:t>Smart Automation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</a:t>
            </a:r>
            <a:r>
              <a:rPr b="1" lang="en-US" sz="2400">
                <a:solidFill>
                  <a:schemeClr val="dk1"/>
                </a:solidFill>
              </a:rPr>
              <a:t>- Localhost3700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title="Your paragraph tex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7925" y="1142995"/>
            <a:ext cx="6293926" cy="3526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latin typeface="Times New Roman"/>
                <a:ea typeface="Times New Roman"/>
                <a:cs typeface="Times New Roman"/>
                <a:sym typeface="Times New Roman"/>
              </a:rPr>
              <a:t>Meridian: The Convergence Point for India's Material Codes. </a:t>
            </a:r>
            <a:endParaRPr sz="3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87086" y="1128029"/>
            <a:ext cx="5803500" cy="512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Idea/Solution: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Evidence-Based AI Matching Platform for Material Code Harmonization Across CPSEs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Features: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Typed Attribute Extraction: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Regex + LLM extraction with an evidence span per field; never guesses unknowns.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Four-Way Verdict: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Same / Possible Alternative / Different / Insufficient Evidence, never a forced binary.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Conflict Gates: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Auditable rules outside the AI that can veto any match verdict.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Matching Cascade: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Identity to attribute rules to model, only on ambiguous pairs: 99.4% of pairs cut.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Canonical ID Registry: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national code per material, additive mapping to every source CPSE code.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Duplicate-Prevention Check: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Flags an existing match before a new material code is ever created.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6093138" y="4654125"/>
            <a:ext cx="5803500" cy="1619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Innovativeness &amp; Uniqueness</a:t>
            </a:r>
            <a:endParaRPr sz="20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Evidence-First: every verdict traces to real evidence, not a score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Override: conflict gates make refusals auditable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Non-Destructive: never edits a CPSE's code, only adds a note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u="sng">
              <a:latin typeface="Calibri"/>
              <a:ea typeface="Calibri"/>
              <a:cs typeface="Calibri"/>
              <a:sym typeface="Calibri"/>
            </a:endParaR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Benchmarked: 173x fewer false merges than fuzzy matching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title="Untitled design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952814"/>
            <a:ext cx="11887201" cy="338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7" name="Google Shape;11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8" name="Google Shape;118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9" name="Google Shape;119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/>
          <p:nvPr/>
        </p:nvSpPr>
        <p:spPr>
          <a:xfrm>
            <a:off x="186000" y="3661474"/>
            <a:ext cx="11820000" cy="2636700"/>
          </a:xfrm>
          <a:prstGeom prst="rect">
            <a:avLst/>
          </a:prstGeom>
          <a:solidFill>
            <a:srgbClr val="7F7F7F">
              <a:alpha val="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221262" y="3687446"/>
            <a:ext cx="32040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Flow Diagram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191012" y="12851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1641212" y="12390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299537" y="16192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19, Vite, TypeScript, TanStack Query, Tailwind CSS 4, Recharts, Axios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26" y="2741758"/>
            <a:ext cx="822276" cy="5810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7" name="Google Shape;127;p15" title="image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4749" y="2681281"/>
            <a:ext cx="1168176" cy="6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904" y="2719618"/>
            <a:ext cx="581097" cy="58107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7712" y="2825117"/>
            <a:ext cx="596896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530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131" name="Google Shape;131;p15"/>
          <p:cNvSpPr/>
          <p:nvPr/>
        </p:nvSpPr>
        <p:spPr>
          <a:xfrm>
            <a:off x="4183655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633855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4292180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REST APIs, FastAPI, SQLAlchemy, SQLite (Postgres-ready), Pydantic, pytest (75)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8142388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9592588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/ML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250913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Hugging Face [BGE-base],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Qwen2.5-7B (Ollama), NumPy, PyYAML,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Azure OpenAI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54700" y="2753900"/>
            <a:ext cx="503251" cy="503251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8" name="Google Shape;138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082318" y="2731118"/>
            <a:ext cx="581100" cy="572752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78747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62363" y="2746048"/>
            <a:ext cx="503252" cy="518963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1" name="Google Shape;141;p1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092267" y="2711713"/>
            <a:ext cx="596900" cy="59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763032" y="2719050"/>
            <a:ext cx="596900" cy="59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3" name="Google Shape;143;p15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9679972" y="2622525"/>
            <a:ext cx="766000" cy="7660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766012" y="2719050"/>
            <a:ext cx="596900" cy="59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Picture 162" descr="precision_reca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650" y="852448"/>
            <a:ext cx="3469399" cy="3615478"/>
          </a:xfrm>
          <a:prstGeom prst="rect">
            <a:avLst/>
          </a:prstGeom>
        </p:spPr>
      </p:pic>
      <p:sp>
        <p:nvSpPr>
          <p:cNvPr id="153" name="Google Shape;153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55" name="Google Shape;155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6" name="Google Shape;156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7" name="Google Shape;157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/>
          <p:nvPr/>
        </p:nvSpPr>
        <p:spPr>
          <a:xfrm>
            <a:off x="180950" y="1206345"/>
            <a:ext cx="7671300" cy="2636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Feasibility</a:t>
            </a: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:</a:t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Technical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All 7,117 pairs decided offline, zero model calls.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Scale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Blocking cuts 99.4% of comparisons, missing no true pair.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Sovereignty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The model can run inside the CPSE's own network.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Reversibility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Dry run on a CPSE master: 0 existing fields altered.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Safety feasibility 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- Gates outside the AI: 0.0028 false-merge rate on hard pairs.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Generalisation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- 4 families, each added as YAML with no code change.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endParaRPr b="1" sz="1600">
              <a:latin typeface="Calibri"/>
              <a:ea typeface="Calibri"/>
              <a:cs typeface="Calibri"/>
              <a:sym typeface="Calibri"/>
            </a:endParaR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Evidence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Fuzzy makes 2,764 false merges at our recall; we make 16.</a:t>
            </a:r>
          </a:p>
        </p:txBody>
      </p:sp>
      <p:sp>
        <p:nvSpPr>
          <p:cNvPr id="160" name="Google Shape;160;p16"/>
          <p:cNvSpPr/>
          <p:nvPr/>
        </p:nvSpPr>
        <p:spPr>
          <a:xfrm>
            <a:off x="216349" y="3954598"/>
            <a:ext cx="7600500" cy="22074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Viability: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Adoption viability - Works alongside SAP via a MATMAS05 IDoc export, so no CPSE replaces what it already runs.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Cost viability - The deterministic path needs no model call, so most decisions cost nothing to run.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Market viability - Incumbents clean one company's data; none reconcile identity across organisations.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6" title="_- visual selection (2).png"/>
          <p:cNvPicPr preferRelativeResize="0"/>
          <p:nvPr/>
        </p:nvPicPr>
        <p:blipFill rotWithShape="1">
          <a:blip r:embed="rId5">
            <a:alphaModFix/>
          </a:blip>
          <a:srcRect b="11606" l="-960" r="960" t="0"/>
          <a:stretch/>
        </p:blipFill>
        <p:spPr>
          <a:xfrm>
            <a:off x="7705450" y="3996000"/>
            <a:ext cx="4477801" cy="22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/>
          <p:nvPr/>
        </p:nvSpPr>
        <p:spPr>
          <a:xfrm>
            <a:off x="8765400" y="4328450"/>
            <a:ext cx="385800" cy="241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79" descr="false_merg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1115568"/>
            <a:ext cx="5613826" cy="2852927"/>
          </a:xfrm>
          <a:prstGeom prst="rect">
            <a:avLst/>
          </a:prstGeom>
        </p:spPr>
      </p:pic>
      <p:sp>
        <p:nvSpPr>
          <p:cNvPr id="169" name="Google Shape;169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71" name="Google Shape;1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2" name="Google Shape;172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73" name="Google Shape;173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/>
          <p:nvPr/>
        </p:nvSpPr>
        <p:spPr>
          <a:xfrm>
            <a:off x="288351" y="4036775"/>
            <a:ext cx="5815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Procurement Teams: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Confident duplicate prevention and faster specification finalization, before a new code is ever created.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 Engineers / Reviewers: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Evidence-backed recommendations they can verify, not a black-box similarity score.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Policy Makers: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working foundation for collaborative procurement and strategic sourcing across CPSEs.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6338389" y="1552400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Benefits: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Economic: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identity per material lets CPSEs aggregate demand and compare prices.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Governance: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SHA-256 hash-chained audit trail; 1,935 events, tamper-evident.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Safety: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Never edits or deletes a source code, only adds a note - so a wrong merge costs nothing to undo.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6352740" y="3954375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</a:t>
            </a: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Part, One Price 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Same bolt, different CPSEs, different prices</a:t>
            </a:r>
            <a:endParaRPr i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Meridian confirms these are the same part, price and quantity per cluster becomes a single grouping query.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Reference scale: CAG found Rs 12,743 crore in procurement &amp; inventory losses at SAIL alone over 7 years.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10700" y="3975076"/>
            <a:ext cx="744051" cy="660099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545054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86" name="Google Shape;186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7" name="Google Shape;187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88" name="Google Shape;188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471375" y="1243671"/>
            <a:ext cx="11508000" cy="22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Fellegi &amp; Sunter, A Theory for Record Linkage (JASA, 1969):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https://www.jstor.org/stable/2286061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Peeters, Steiner &amp; Bizer, LLMs for Entity Matching (EDBT 2025):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https://arxiv.org/abs/2310.11244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OpenSanctions Pairs benchmark (on-prem vs hosted model F1):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https://arxiv.org/abs/2603.11051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Splink - UK Ministry of Justice entity resolution toolkit: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https://github.com/moj-analytical-services/splink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NCB-India / NATO Codification System: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https://ddpdos.gov.in/about-us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CAG Report No. 10 of 2025, SAIL inventory losses: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https://cag.gov.in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Ditto - deep entity matching (VLDB 2021):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https://arxiv.org/abs/2004.00584</a:t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4" name="Picture 193" descr="shot-dashboar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3453" y="3762368"/>
            <a:ext cx="3808740" cy="2380462"/>
          </a:xfrm>
          <a:prstGeom prst="rect">
            <a:avLst/>
          </a:prstGeom>
        </p:spPr>
      </p:pic>
      <p:pic>
        <p:nvPicPr>
          <p:cNvPr id="195" name="Picture 194" descr="shot-des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9003" y="3762384"/>
            <a:ext cx="3808752" cy="2380470"/>
          </a:xfrm>
          <a:prstGeom prst="rect">
            <a:avLst/>
          </a:prstGeom>
        </p:spPr>
      </p:pic>
      <p:pic>
        <p:nvPicPr>
          <p:cNvPr id="196" name="Picture 195" descr="shot-graph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70153" y="3821507"/>
            <a:ext cx="3643176" cy="22769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